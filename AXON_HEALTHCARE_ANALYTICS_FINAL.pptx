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8" r:id="rId9"/>
    <p:sldId id="262" r:id="rId10"/>
    <p:sldId id="263" r:id="rId11"/>
    <p:sldId id="264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7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00A0A0"/>
          </a:solidFill>
          <a:ln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457200" y="5486400"/>
            <a:ext cx="2286000" cy="2286000"/>
          </a:xfrm>
          <a:prstGeom prst="ellipse">
            <a:avLst/>
          </a:prstGeom>
          <a:solidFill>
            <a:srgbClr val="FF7F27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rPr dirty="0"/>
              <a:t>HEALTHCARE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27004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rPr dirty="0"/>
              <a:t>Transforming Electronic Medical Records into</a:t>
            </a:r>
            <a:br>
              <a:rPr dirty="0"/>
            </a:br>
            <a:r>
              <a:rPr dirty="0"/>
              <a:t>Actionable Healthcare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3778"/>
          </a:solidFill>
          <a:ln>
            <a:solidFill>
              <a:srgbClr val="0B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0A0"/>
          </a:solidFill>
          <a:ln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</a:defRPr>
            </a:pPr>
            <a:r>
              <a:t>PROJECT DEFINITION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4114800" cy="1828800"/>
          </a:xfrm>
          <a:prstGeom prst="roundRect">
            <a:avLst/>
          </a:prstGeom>
          <a:solidFill>
            <a:srgbClr val="F0FA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C3C3C"/>
                </a:solidFill>
              </a:defRPr>
            </a:pPr>
            <a:r>
              <a:t>✓ Healthcare BI Analytics</a:t>
            </a:r>
          </a:p>
          <a:p>
            <a:pPr>
              <a:spcAft>
                <a:spcPts val="600"/>
              </a:spcAft>
              <a:defRPr sz="1200">
                <a:solidFill>
                  <a:srgbClr val="3C3C3C"/>
                </a:solidFill>
              </a:defRPr>
            </a:pPr>
            <a:r>
              <a:t>✓ Electronic Medical Records</a:t>
            </a:r>
          </a:p>
          <a:p>
            <a:pPr>
              <a:spcAft>
                <a:spcPts val="600"/>
              </a:spcAft>
              <a:defRPr sz="1200">
                <a:solidFill>
                  <a:srgbClr val="3C3C3C"/>
                </a:solidFill>
              </a:defRPr>
            </a:pPr>
            <a:r>
              <a:t>✓ Patient Operations</a:t>
            </a:r>
          </a:p>
          <a:p>
            <a:pPr>
              <a:spcAft>
                <a:spcPts val="600"/>
              </a:spcAft>
              <a:defRPr sz="1200">
                <a:solidFill>
                  <a:srgbClr val="3C3C3C"/>
                </a:solidFill>
              </a:defRPr>
            </a:pPr>
            <a:r>
              <a:t>✓ Treatment &amp; Lab Insights</a:t>
            </a:r>
          </a:p>
          <a:p>
            <a:pPr>
              <a:spcAft>
                <a:spcPts val="600"/>
              </a:spcAft>
              <a:defRPr sz="1200">
                <a:solidFill>
                  <a:srgbClr val="3C3C3C"/>
                </a:solidFill>
              </a:defRPr>
            </a:pPr>
            <a:r>
              <a:t>✓ Data-Driven Healthcare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F27"/>
                </a:solidFill>
              </a:defRPr>
            </a:pPr>
            <a:r>
              <a:t>BUSINESS OBJECTIVE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463040"/>
            <a:ext cx="3931920" cy="1828800"/>
          </a:xfrm>
          <a:prstGeom prst="roundRect">
            <a:avLst/>
          </a:prstGeom>
          <a:solidFill>
            <a:srgbClr val="FFFAF0"/>
          </a:solidFill>
          <a:ln w="127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160020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C3C3C"/>
                </a:solidFill>
              </a:defRPr>
            </a:pPr>
            <a:r>
              <a:t>✓ Centralize EMR Data</a:t>
            </a:r>
          </a:p>
          <a:p>
            <a:pPr>
              <a:spcAft>
                <a:spcPts val="600"/>
              </a:spcAft>
              <a:defRPr sz="1200">
                <a:solidFill>
                  <a:srgbClr val="3C3C3C"/>
                </a:solidFill>
              </a:defRPr>
            </a:pPr>
            <a:r>
              <a:t>✓ Real-Time Insights</a:t>
            </a:r>
          </a:p>
          <a:p>
            <a:pPr>
              <a:spcAft>
                <a:spcPts val="600"/>
              </a:spcAft>
              <a:defRPr sz="1200">
                <a:solidFill>
                  <a:srgbClr val="3C3C3C"/>
                </a:solidFill>
              </a:defRPr>
            </a:pPr>
            <a:r>
              <a:t>✓ Monitor KPIs</a:t>
            </a:r>
          </a:p>
          <a:p>
            <a:pPr>
              <a:spcAft>
                <a:spcPts val="600"/>
              </a:spcAft>
              <a:defRPr sz="1200">
                <a:solidFill>
                  <a:srgbClr val="3C3C3C"/>
                </a:solidFill>
              </a:defRPr>
            </a:pPr>
            <a:r>
              <a:t>✓ Support Decisions</a:t>
            </a:r>
          </a:p>
          <a:p>
            <a:pPr>
              <a:spcAft>
                <a:spcPts val="600"/>
              </a:spcAft>
              <a:defRPr sz="1200">
                <a:solidFill>
                  <a:srgbClr val="3C3C3C"/>
                </a:solidFill>
              </a:defRPr>
            </a:pPr>
            <a:r>
              <a:t>✓ Improve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</a:defRPr>
            </a:pPr>
            <a:r>
              <a:t>DATA SCOPE &amp;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86200"/>
            <a:ext cx="14630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40690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A0A0"/>
                </a:solidFill>
              </a:defRPr>
            </a:pPr>
            <a:r>
              <a:t>10,000</a:t>
            </a:r>
            <a:br/>
            <a:r>
              <a:t>Patient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B4B4B4"/>
                </a:solidFill>
              </a:defRPr>
            </a:pPr>
            <a:r>
              <a:t>Demographics, Age, Diagnosis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3886200"/>
            <a:ext cx="14630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48840" y="40690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👨‍⚕️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48056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A0A0"/>
                </a:solidFill>
              </a:defRPr>
            </a:pPr>
            <a:r>
              <a:t>1,000</a:t>
            </a:r>
            <a:br/>
            <a:r>
              <a:t>Doctors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02920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B4B4B4"/>
                </a:solidFill>
              </a:defRPr>
            </a:pPr>
            <a:r>
              <a:t>Providers, Specialties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3886200"/>
            <a:ext cx="14630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03320" y="40690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48056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A0A0"/>
                </a:solidFill>
              </a:defRPr>
            </a:pPr>
            <a:r>
              <a:t>10,000</a:t>
            </a:r>
            <a:br/>
            <a:r>
              <a:t>Visits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02920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B4B4B4"/>
                </a:solidFill>
              </a:defRPr>
            </a:pPr>
            <a:r>
              <a:t>Interactions, Follow-ups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3886200"/>
            <a:ext cx="14630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57800" y="40690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448056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A0A0"/>
                </a:solidFill>
              </a:defRPr>
            </a:pPr>
            <a:r>
              <a:t>3,325</a:t>
            </a:r>
            <a:br/>
            <a:r>
              <a:t>Treatments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502920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B4B4B4"/>
                </a:solidFill>
              </a:defRPr>
            </a:pPr>
            <a:r>
              <a:t>Procedures, Costs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3886200"/>
            <a:ext cx="14630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12280" y="40690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48056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A0A0"/>
                </a:solidFill>
              </a:defRPr>
            </a:pPr>
            <a:r>
              <a:t>10,000</a:t>
            </a:r>
            <a:br/>
            <a:r>
              <a:t>Lab Tests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02920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B4B4B4"/>
                </a:solidFill>
              </a:defRPr>
            </a:pPr>
            <a:r>
              <a:t>Results, Abnormality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</a:defRPr>
            </a:pPr>
            <a:r>
              <a:t>TECHNOLOGY STACK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63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7F27"/>
                </a:solidFill>
              </a:defRPr>
            </a:pPr>
            <a:r>
              <a:t>Excel  •  MySQL  •  SQL  •  Power BI  •  Tableau  •  Data Quality Assurance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3778"/>
          </a:solidFill>
          <a:ln>
            <a:solidFill>
              <a:srgbClr val="0B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0A0"/>
          </a:solidFill>
          <a:ln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Team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66CC"/>
                </a:solidFill>
              </a:defRPr>
            </a:pPr>
            <a:r>
              <a:t>Expert team driving the Axon Healthcare Analytics project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508760"/>
            <a:ext cx="457200" cy="457200"/>
          </a:xfrm>
          <a:prstGeom prst="ellipse">
            <a:avLst/>
          </a:prstGeom>
          <a:solidFill>
            <a:srgbClr val="00A0A0"/>
          </a:solidFill>
          <a:ln w="2540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508760"/>
            <a:ext cx="2377440" cy="1234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05840" y="1508760"/>
            <a:ext cx="2377440" cy="91440"/>
          </a:xfrm>
          <a:prstGeom prst="rect">
            <a:avLst/>
          </a:prstGeom>
          <a:solidFill>
            <a:srgbClr val="00A0A0"/>
          </a:solidFill>
          <a:ln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1737360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3C3C3C"/>
                </a:solidFill>
              </a:defRPr>
            </a:pPr>
            <a:r>
              <a:t>MK LAKSHMI KANTH</a:t>
            </a:r>
          </a:p>
        </p:txBody>
      </p:sp>
      <p:sp>
        <p:nvSpPr>
          <p:cNvPr id="11" name="Oval 10"/>
          <p:cNvSpPr/>
          <p:nvPr/>
        </p:nvSpPr>
        <p:spPr>
          <a:xfrm>
            <a:off x="3154680" y="1508760"/>
            <a:ext cx="457200" cy="457200"/>
          </a:xfrm>
          <a:prstGeom prst="ellipse">
            <a:avLst/>
          </a:prstGeom>
          <a:solidFill>
            <a:srgbClr val="FF7F27"/>
          </a:solidFill>
          <a:ln w="254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54680" y="150876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508760"/>
            <a:ext cx="2377440" cy="1234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703320" y="1508760"/>
            <a:ext cx="2377440" cy="91440"/>
          </a:xfrm>
          <a:prstGeom prst="rect">
            <a:avLst/>
          </a:prstGeom>
          <a:solidFill>
            <a:srgbClr val="FF7F27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0" y="1737360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3C3C3C"/>
                </a:solidFill>
              </a:defRPr>
            </a:pPr>
            <a:r>
              <a:t>M H Prashanth</a:t>
            </a:r>
          </a:p>
        </p:txBody>
      </p:sp>
      <p:sp>
        <p:nvSpPr>
          <p:cNvPr id="16" name="Oval 15"/>
          <p:cNvSpPr/>
          <p:nvPr/>
        </p:nvSpPr>
        <p:spPr>
          <a:xfrm>
            <a:off x="5852160" y="1508760"/>
            <a:ext cx="457200" cy="457200"/>
          </a:xfrm>
          <a:prstGeom prst="ellipse">
            <a:avLst/>
          </a:prstGeom>
          <a:solidFill>
            <a:srgbClr val="0066C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52160" y="150876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508760"/>
            <a:ext cx="2377440" cy="1234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1508760"/>
            <a:ext cx="2377440" cy="9144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1737360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3C3C3C"/>
                </a:solidFill>
              </a:defRPr>
            </a:pPr>
            <a:r>
              <a:t>Akumallajakeer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2926080"/>
            <a:ext cx="2377440" cy="1234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05840" y="2926080"/>
            <a:ext cx="2377440" cy="9144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43000" y="3154680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3C3C3C"/>
                </a:solidFill>
              </a:defRPr>
            </a:pPr>
            <a:r>
              <a:t>K Ravi Kumar</a:t>
            </a:r>
          </a:p>
        </p:txBody>
      </p:sp>
      <p:sp>
        <p:nvSpPr>
          <p:cNvPr id="26" name="Oval 25"/>
          <p:cNvSpPr/>
          <p:nvPr/>
        </p:nvSpPr>
        <p:spPr>
          <a:xfrm>
            <a:off x="3154680" y="2926080"/>
            <a:ext cx="457200" cy="457200"/>
          </a:xfrm>
          <a:prstGeom prst="ellipse">
            <a:avLst/>
          </a:prstGeom>
          <a:solidFill>
            <a:srgbClr val="9C27B0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54680" y="29260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2926080"/>
            <a:ext cx="2377440" cy="1234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703320" y="2926080"/>
            <a:ext cx="2377440" cy="91440"/>
          </a:xfrm>
          <a:prstGeom prst="rect">
            <a:avLst/>
          </a:prstGeom>
          <a:solidFill>
            <a:srgbClr val="9C27B0"/>
          </a:solidFill>
          <a:ln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40480" y="3154680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3C3C3C"/>
                </a:solidFill>
              </a:defRPr>
            </a:pPr>
            <a:r>
              <a:t>N Pavani</a:t>
            </a:r>
          </a:p>
        </p:txBody>
      </p:sp>
      <p:sp>
        <p:nvSpPr>
          <p:cNvPr id="31" name="Oval 30"/>
          <p:cNvSpPr/>
          <p:nvPr/>
        </p:nvSpPr>
        <p:spPr>
          <a:xfrm>
            <a:off x="5852160" y="2926080"/>
            <a:ext cx="457200" cy="457200"/>
          </a:xfrm>
          <a:prstGeom prst="ellipse">
            <a:avLst/>
          </a:prstGeom>
          <a:solidFill>
            <a:srgbClr val="E53935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852160" y="29260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2926080"/>
            <a:ext cx="2377440" cy="1234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00800" y="2926080"/>
            <a:ext cx="2377440" cy="91440"/>
          </a:xfrm>
          <a:prstGeom prst="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7960" y="3154680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3C3C3C"/>
                </a:solidFill>
              </a:defRPr>
            </a:pPr>
            <a:r>
              <a:t>Y. Padmavathi</a:t>
            </a:r>
          </a:p>
        </p:txBody>
      </p:sp>
      <p:sp>
        <p:nvSpPr>
          <p:cNvPr id="36" name="Oval 35"/>
          <p:cNvSpPr/>
          <p:nvPr/>
        </p:nvSpPr>
        <p:spPr>
          <a:xfrm>
            <a:off x="457200" y="4343400"/>
            <a:ext cx="457200" cy="457200"/>
          </a:xfrm>
          <a:prstGeom prst="ellipse">
            <a:avLst/>
          </a:prstGeom>
          <a:solidFill>
            <a:srgbClr val="00A0A0"/>
          </a:solidFill>
          <a:ln w="2540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434340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" y="4343400"/>
            <a:ext cx="2377440" cy="1234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05840" y="4343400"/>
            <a:ext cx="2377440" cy="91440"/>
          </a:xfrm>
          <a:prstGeom prst="rect">
            <a:avLst/>
          </a:prstGeom>
          <a:solidFill>
            <a:srgbClr val="00A0A0"/>
          </a:solidFill>
          <a:ln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43000" y="4572000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3C3C3C"/>
                </a:solidFill>
              </a:defRPr>
            </a:pPr>
            <a:r>
              <a:t>Prathamesh Mundhe</a:t>
            </a:r>
          </a:p>
        </p:txBody>
      </p:sp>
      <p:sp>
        <p:nvSpPr>
          <p:cNvPr id="41" name="Oval 40"/>
          <p:cNvSpPr/>
          <p:nvPr/>
        </p:nvSpPr>
        <p:spPr>
          <a:xfrm>
            <a:off x="3154680" y="4343400"/>
            <a:ext cx="457200" cy="457200"/>
          </a:xfrm>
          <a:prstGeom prst="ellipse">
            <a:avLst/>
          </a:prstGeom>
          <a:solidFill>
            <a:srgbClr val="FF7F27"/>
          </a:solidFill>
          <a:ln w="254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154680" y="434340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703320" y="4343400"/>
            <a:ext cx="2377440" cy="1234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703320" y="4343400"/>
            <a:ext cx="2377440" cy="91440"/>
          </a:xfrm>
          <a:prstGeom prst="rect">
            <a:avLst/>
          </a:prstGeom>
          <a:solidFill>
            <a:srgbClr val="FF7F27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840480" y="4572000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3C3C3C"/>
                </a:solidFill>
              </a:defRPr>
            </a:pPr>
            <a:r>
              <a:t>PALAVELLI ROHITH</a:t>
            </a:r>
          </a:p>
        </p:txBody>
      </p:sp>
      <p:sp>
        <p:nvSpPr>
          <p:cNvPr id="46" name="Oval 45"/>
          <p:cNvSpPr/>
          <p:nvPr/>
        </p:nvSpPr>
        <p:spPr>
          <a:xfrm>
            <a:off x="5852160" y="4343400"/>
            <a:ext cx="457200" cy="457200"/>
          </a:xfrm>
          <a:prstGeom prst="ellipse">
            <a:avLst/>
          </a:prstGeom>
          <a:solidFill>
            <a:srgbClr val="0066C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852160" y="434340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4343400"/>
            <a:ext cx="2377440" cy="1234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400800" y="4343400"/>
            <a:ext cx="2377440" cy="9144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37960" y="4572000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3C3C3C"/>
                </a:solidFill>
              </a:defRPr>
            </a:pPr>
            <a:r>
              <a:t>Shayari Omprakash Chandak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78811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3778"/>
          </a:solidFill>
          <a:ln>
            <a:solidFill>
              <a:srgbClr val="0B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0A0"/>
          </a:solidFill>
          <a:ln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Healthcare Database Schema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0" cy="822960"/>
          </a:xfrm>
          <a:prstGeom prst="roundRect">
            <a:avLst/>
          </a:prstGeom>
          <a:solidFill>
            <a:srgbClr val="F0FA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73152" cy="822960"/>
          </a:xfrm>
          <a:prstGeom prst="rect">
            <a:avLst/>
          </a:prstGeom>
          <a:solidFill>
            <a:srgbClr val="00A0A0"/>
          </a:solidFill>
          <a:ln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3778"/>
                </a:solidFill>
              </a:defRPr>
            </a:pPr>
            <a:r>
              <a:t>PATIENT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8016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7F27"/>
                </a:solidFill>
              </a:defRPr>
            </a:pPr>
            <a:r>
              <a:t>Records: 10,000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2801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Demographics, Age, Diagnosis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8229600" cy="822960"/>
          </a:xfrm>
          <a:prstGeom prst="roundRect">
            <a:avLst/>
          </a:prstGeom>
          <a:solidFill>
            <a:srgbClr val="F0FA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73152" cy="822960"/>
          </a:xfrm>
          <a:prstGeom prst="rect">
            <a:avLst/>
          </a:prstGeom>
          <a:solidFill>
            <a:srgbClr val="FF7F27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3778"/>
                </a:solidFill>
              </a:defRPr>
            </a:pPr>
            <a:r>
              <a:t>DOCTOR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19456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7F27"/>
                </a:solidFill>
              </a:defRPr>
            </a:pPr>
            <a:r>
              <a:t>Records: 1,000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1945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Provider, Specialty, Details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17520"/>
            <a:ext cx="8229600" cy="822960"/>
          </a:xfrm>
          <a:prstGeom prst="roundRect">
            <a:avLst/>
          </a:prstGeom>
          <a:solidFill>
            <a:srgbClr val="F0FA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73152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10896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3778"/>
                </a:solidFill>
              </a:defRPr>
            </a:pPr>
            <a:r>
              <a:t>VISIT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10896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7F27"/>
                </a:solidFill>
              </a:defRPr>
            </a:pPr>
            <a:r>
              <a:t>Records: 10,000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1089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Interactions, Status, Follow-up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8229600" cy="822960"/>
          </a:xfrm>
          <a:prstGeom prst="roundRect">
            <a:avLst/>
          </a:prstGeom>
          <a:solidFill>
            <a:srgbClr val="F0FA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73152" cy="82296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02336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3778"/>
                </a:solidFill>
              </a:defRPr>
            </a:pPr>
            <a:r>
              <a:t>TREATMENT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02336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7F27"/>
                </a:solidFill>
              </a:defRPr>
            </a:pPr>
            <a:r>
              <a:t>Records: 3,325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0233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Procedures, Cost, Outcomes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846320"/>
            <a:ext cx="8229600" cy="822960"/>
          </a:xfrm>
          <a:prstGeom prst="roundRect">
            <a:avLst/>
          </a:prstGeom>
          <a:solidFill>
            <a:srgbClr val="F0FA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4846320"/>
            <a:ext cx="73152" cy="822960"/>
          </a:xfrm>
          <a:prstGeom prst="rect">
            <a:avLst/>
          </a:prstGeom>
          <a:solidFill>
            <a:srgbClr val="E91E63"/>
          </a:solidFill>
          <a:ln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93776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3778"/>
                </a:solidFill>
              </a:defRPr>
            </a:pPr>
            <a:r>
              <a:t>LAB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93776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7F27"/>
                </a:solidFill>
              </a:defRPr>
            </a:pPr>
            <a:r>
              <a:t>Records: 10,000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9377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Tests, Results, Abnormality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3778"/>
          </a:solidFill>
          <a:ln>
            <a:solidFill>
              <a:srgbClr val="0B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0A0"/>
          </a:solidFill>
          <a:ln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Healthcare KPI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01168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011680" cy="109728"/>
          </a:xfrm>
          <a:prstGeom prst="rect">
            <a:avLst/>
          </a:prstGeom>
          <a:solidFill>
            <a:srgbClr val="00A0A0"/>
          </a:solidFill>
          <a:ln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A0A0"/>
                </a:solidFill>
              </a:defRPr>
            </a:pPr>
            <a:r>
              <a:t>10,000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C3C3C"/>
                </a:solidFill>
              </a:defRPr>
            </a:pPr>
            <a:r>
              <a:t>Total Patients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188720"/>
            <a:ext cx="201168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51760" y="1188720"/>
            <a:ext cx="2011680" cy="109728"/>
          </a:xfrm>
          <a:prstGeom prst="rect">
            <a:avLst/>
          </a:prstGeom>
          <a:solidFill>
            <a:srgbClr val="FF7F27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0" y="14173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7F27"/>
                </a:solidFill>
              </a:defRPr>
            </a:pPr>
            <a:r>
              <a:t>1,000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874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C3C3C"/>
                </a:solidFill>
              </a:defRPr>
            </a:pPr>
            <a:r>
              <a:t>Total Doctors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1188720"/>
            <a:ext cx="201168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46320" y="1188720"/>
            <a:ext cx="2011680" cy="10972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0" y="14173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10,000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874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C3C3C"/>
                </a:solidFill>
              </a:defRPr>
            </a:pPr>
            <a:r>
              <a:t>Total Visits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1188720"/>
            <a:ext cx="201168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40880" y="1188720"/>
            <a:ext cx="2011680" cy="109728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0" y="14173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CAF50"/>
                </a:solidFill>
              </a:defRPr>
            </a:pPr>
            <a:r>
              <a:t>49.84%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1874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C3C3C"/>
                </a:solidFill>
              </a:defRPr>
            </a:pPr>
            <a:r>
              <a:t>Follow-Up 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743200"/>
            <a:ext cx="201168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2743200"/>
            <a:ext cx="2011680" cy="109728"/>
          </a:xfrm>
          <a:prstGeom prst="rect">
            <a:avLst/>
          </a:prstGeom>
          <a:solidFill>
            <a:srgbClr val="00A0A0"/>
          </a:solidFill>
          <a:ln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29718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A0A0"/>
                </a:solidFill>
              </a:defRPr>
            </a:pPr>
            <a:r>
              <a:t>₹525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429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C3C3C"/>
                </a:solidFill>
              </a:defRPr>
            </a:pPr>
            <a:r>
              <a:t>Avg Treatment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51760" y="2743200"/>
            <a:ext cx="201168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651760" y="2743200"/>
            <a:ext cx="2011680" cy="109728"/>
          </a:xfrm>
          <a:prstGeom prst="rect">
            <a:avLst/>
          </a:prstGeom>
          <a:solidFill>
            <a:srgbClr val="FF7F27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0" y="29718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7F27"/>
                </a:solidFill>
              </a:defRPr>
            </a:pPr>
            <a:r>
              <a:t>10,000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429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C3C3C"/>
                </a:solidFill>
              </a:defRPr>
            </a:pPr>
            <a:r>
              <a:t>Lab Tests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2743200"/>
            <a:ext cx="201168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846320" y="2743200"/>
            <a:ext cx="2011680" cy="10972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37760" y="29718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33.54%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3429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C3C3C"/>
                </a:solidFill>
              </a:defRPr>
            </a:pPr>
            <a:r>
              <a:t>Abnormal 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2743200"/>
            <a:ext cx="201168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040880" y="2743200"/>
            <a:ext cx="2011680" cy="109728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20" y="29718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CAF50"/>
                </a:solidFill>
              </a:defRPr>
            </a:pPr>
            <a: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3429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C3C3C"/>
                </a:solidFill>
              </a:defRPr>
            </a:pPr>
            <a:r>
              <a:t>Doctor Workload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737360" y="4572000"/>
            <a:ext cx="201168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737360" y="4572000"/>
            <a:ext cx="2011680" cy="109728"/>
          </a:xfrm>
          <a:prstGeom prst="rect">
            <a:avLst/>
          </a:prstGeom>
          <a:solidFill>
            <a:srgbClr val="00A0A0"/>
          </a:solidFill>
          <a:ln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828800" y="48006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A0A0"/>
                </a:solidFill>
              </a:defRPr>
            </a:pPr>
            <a:r>
              <a:t>3,266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5257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C3C3C"/>
                </a:solidFill>
              </a:defRPr>
            </a:pPr>
            <a:r>
              <a:t>Completed Visits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31920" y="4572000"/>
            <a:ext cx="201168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931920" y="4572000"/>
            <a:ext cx="2011680" cy="109728"/>
          </a:xfrm>
          <a:prstGeom prst="rect">
            <a:avLst/>
          </a:prstGeom>
          <a:solidFill>
            <a:srgbClr val="00A0A0"/>
          </a:solidFill>
          <a:ln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023360" y="48006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A0A0"/>
                </a:solidFill>
              </a:defRPr>
            </a:pPr>
            <a:r>
              <a:t>3,325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23360" y="5257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C3C3C"/>
                </a:solidFill>
              </a:defRPr>
            </a:pPr>
            <a:r>
              <a:t>Completed Treatments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26480" y="4572000"/>
            <a:ext cx="201168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26480" y="4572000"/>
            <a:ext cx="2011680" cy="109728"/>
          </a:xfrm>
          <a:prstGeom prst="rect">
            <a:avLst/>
          </a:prstGeom>
          <a:solidFill>
            <a:srgbClr val="00A0A0"/>
          </a:solidFill>
          <a:ln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17920" y="48006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A0A0"/>
                </a:solidFill>
              </a:defRPr>
            </a:pPr>
            <a:r>
              <a:t>3,354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5257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C3C3C"/>
                </a:solidFill>
              </a:defRPr>
            </a:pPr>
            <a:r>
              <a:t>Abnormal Tests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3778"/>
          </a:solidFill>
          <a:ln>
            <a:solidFill>
              <a:srgbClr val="0B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0A0"/>
          </a:solidFill>
          <a:ln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Excel Dashboard - Healthcare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</a:defRPr>
            </a:pPr>
            <a:r>
              <a:t>📊 Interactive Excel Analytics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C970B3-25B5-E077-7A2D-993AEB452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60" y="1463039"/>
            <a:ext cx="8562975" cy="46624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3778"/>
          </a:solidFill>
          <a:ln>
            <a:solidFill>
              <a:srgbClr val="0B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0A0"/>
          </a:solidFill>
          <a:ln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Tableau Dashboard - Healthcare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</a:defRPr>
            </a:pPr>
            <a:r>
              <a:t>📊 Interactive Tableau Analytics Dashboard</a:t>
            </a:r>
          </a:p>
        </p:txBody>
      </p:sp>
      <p:pic>
        <p:nvPicPr>
          <p:cNvPr id="6" name="Picture 5" descr="1789054627916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8595360" cy="48348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8C4B75-7A48-C1A1-57C9-93F696ED3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137B29-AA22-9B46-9739-244872A5FD74}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3778"/>
          </a:solidFill>
          <a:ln>
            <a:solidFill>
              <a:srgbClr val="0B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B3027D-DC57-34E4-85F0-9CE0A87D384D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0A0"/>
          </a:solidFill>
          <a:ln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423A9E-8E49-D178-3A9B-F79F4E2AB76A}"/>
              </a:ext>
            </a:extLst>
          </p:cNvPr>
          <p:cNvSpPr txBox="1"/>
          <p:nvPr/>
        </p:nvSpPr>
        <p:spPr>
          <a:xfrm>
            <a:off x="457200" y="182880"/>
            <a:ext cx="827983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IN" dirty="0" err="1"/>
              <a:t>PowerBI</a:t>
            </a:r>
            <a:r>
              <a:rPr dirty="0"/>
              <a:t> Dashboard - Healthcare Analytics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159560-22DE-C9B9-B5F9-600A85B05717}"/>
              </a:ext>
            </a:extLst>
          </p:cNvPr>
          <p:cNvSpPr txBox="1"/>
          <p:nvPr/>
        </p:nvSpPr>
        <p:spPr>
          <a:xfrm>
            <a:off x="457200" y="1097280"/>
            <a:ext cx="351089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</a:defRPr>
            </a:pPr>
            <a:r>
              <a:rPr dirty="0"/>
              <a:t>📊 Interactive </a:t>
            </a:r>
            <a:r>
              <a:rPr lang="en-IN" dirty="0" err="1"/>
              <a:t>PowerBI</a:t>
            </a:r>
            <a:r>
              <a:rPr lang="en-IN" dirty="0"/>
              <a:t> </a:t>
            </a:r>
            <a:r>
              <a:rPr dirty="0"/>
              <a:t>Analytics Dashboard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86177F-2C82-64DB-8641-09EF39DB6620}"/>
              </a:ext>
            </a:extLst>
          </p:cNvPr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9CA2A4-C250-54EB-A1C2-A2789EE11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63329"/>
            <a:ext cx="8397338" cy="51117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553031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3778"/>
          </a:solidFill>
          <a:ln>
            <a:solidFill>
              <a:srgbClr val="0B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0A0"/>
          </a:solidFill>
          <a:ln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SQL Implementation &amp;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66CC"/>
                </a:solidFill>
              </a:defRPr>
            </a:pPr>
            <a:r>
              <a:t>▶ Total Patients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594360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C3C3C"/>
                </a:solidFill>
                <a:latin typeface="Courier New"/>
              </a:defRPr>
            </a:pPr>
            <a:r>
              <a:t>SELECT COUNT(DISTINCT PatientID) FROM Patient;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508760"/>
            <a:ext cx="2103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0A0A0"/>
                </a:solidFill>
              </a:defRPr>
            </a:pPr>
            <a:r>
              <a:t>Result: 10,000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66CC"/>
                </a:solidFill>
              </a:defRPr>
            </a:pPr>
            <a:r>
              <a:t>▶ Follow-Up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23160"/>
            <a:ext cx="594360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C3C3C"/>
                </a:solidFill>
                <a:latin typeface="Courier New"/>
              </a:defRPr>
            </a:pPr>
            <a:r>
              <a:t>SELECT (COUNT(FollowUp)/COUNT(*)*100) FROM Visit;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23160"/>
            <a:ext cx="2103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0A0A0"/>
                </a:solidFill>
              </a:defRPr>
            </a:pPr>
            <a:r>
              <a:t>Result: 49.84%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66CC"/>
                </a:solidFill>
              </a:defRPr>
            </a:pPr>
            <a:r>
              <a:t>▶ Avg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37560"/>
            <a:ext cx="594360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C3C3C"/>
                </a:solidFill>
                <a:latin typeface="Courier New"/>
              </a:defRPr>
            </a:pPr>
            <a:r>
              <a:t>SELECT AVG(Cost) FROM Treatment;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337560"/>
            <a:ext cx="2103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0A0A0"/>
                </a:solidFill>
              </a:defRPr>
            </a:pPr>
            <a:r>
              <a:t>Result: ₹525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66CC"/>
                </a:solidFill>
              </a:defRPr>
            </a:pPr>
            <a:r>
              <a:t>▶ Abnormal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1960"/>
            <a:ext cx="5943600" cy="457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3C3C3C"/>
                </a:solidFill>
                <a:latin typeface="Courier New"/>
              </a:defRPr>
            </a:pPr>
            <a:r>
              <a:t>SELECT (COUNT(CASE WHEN Result='Abnormal' THEN 1 END)/COUNT(*)*100) FROM LabResult;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251960"/>
            <a:ext cx="2103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0A0A0"/>
                </a:solidFill>
              </a:defRPr>
            </a:pPr>
            <a:r>
              <a:t>Result: 33.54%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3778"/>
          </a:solidFill>
          <a:ln>
            <a:solidFill>
              <a:srgbClr val="0B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0A0"/>
          </a:solidFill>
          <a:ln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Business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84124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/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258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66CC"/>
                </a:solidFill>
              </a:defRPr>
            </a:pPr>
            <a:r>
              <a:t>Patient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64592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10,000 records provide robust foundation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48840"/>
            <a:ext cx="84124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5486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/>
            </a:pPr>
            <a:r>
              <a:t>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86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66CC"/>
                </a:solidFill>
              </a:defRPr>
            </a:pPr>
            <a:r>
              <a:t>Follow-Up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6060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49.84% rate needs efficient scheduling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108960"/>
            <a:ext cx="84124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200400"/>
            <a:ext cx="5486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/>
            </a:pPr>
            <a:r>
              <a:t>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2461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66CC"/>
                </a:solidFill>
              </a:defRPr>
            </a:pPr>
            <a:r>
              <a:t>Cost Efficiency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6616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₹525 avg supports cost-effective care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069080"/>
            <a:ext cx="84124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160520"/>
            <a:ext cx="5486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/>
            </a:pPr>
            <a:r>
              <a:t>⚠️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06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66CC"/>
                </a:solidFill>
              </a:defRPr>
            </a:pPr>
            <a:r>
              <a:t>Lab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52628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33.54% abnormal rate requires follow-up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029200"/>
            <a:ext cx="84124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5120640"/>
            <a:ext cx="5486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/>
            </a:pPr>
            <a:r>
              <a:t>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166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66CC"/>
                </a:solidFill>
              </a:defRPr>
            </a:pPr>
            <a:r>
              <a:t>Resource Balance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4864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10 visits/doctor indicates sustainability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3778"/>
          </a:solidFill>
          <a:ln>
            <a:solidFill>
              <a:srgbClr val="0B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0A0"/>
          </a:solidFill>
          <a:ln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Strategic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8412480" cy="777240"/>
          </a:xfrm>
          <a:prstGeom prst="roundRect">
            <a:avLst/>
          </a:prstGeom>
          <a:solidFill>
            <a:srgbClr val="FFF5E6"/>
          </a:solidFill>
          <a:ln w="254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FF7F27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801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7F27"/>
                </a:solidFill>
              </a:defRPr>
            </a:pPr>
            <a:r>
              <a:t>Follow-Up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28016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C3C3C"/>
                </a:solidFill>
              </a:defRPr>
            </a:pPr>
            <a:r>
              <a:t>Implement scheduling for 49.84% follow-up visits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057400"/>
            <a:ext cx="8412480" cy="777240"/>
          </a:xfrm>
          <a:prstGeom prst="roundRect">
            <a:avLst/>
          </a:prstGeom>
          <a:solidFill>
            <a:srgbClr val="FFF5E6"/>
          </a:solidFill>
          <a:ln w="254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rgbClr val="FF7F27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1488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7F27"/>
                </a:solidFill>
              </a:defRPr>
            </a:pPr>
            <a:r>
              <a:t>Real-Time Dashboards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14884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C3C3C"/>
                </a:solidFill>
              </a:defRPr>
            </a:pPr>
            <a:r>
              <a:t>Create live doctor workload visibility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926080"/>
            <a:ext cx="8412480" cy="777240"/>
          </a:xfrm>
          <a:prstGeom prst="roundRect">
            <a:avLst/>
          </a:prstGeom>
          <a:solidFill>
            <a:srgbClr val="FFF5E6"/>
          </a:solidFill>
          <a:ln w="254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FF7F27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0175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7F27"/>
                </a:solidFill>
              </a:defRPr>
            </a:pPr>
            <a:r>
              <a:t>Cost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01752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C3C3C"/>
                </a:solidFill>
              </a:defRPr>
            </a:pPr>
            <a:r>
              <a:t>Track treatment costs for budget planning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794760"/>
            <a:ext cx="8412480" cy="777240"/>
          </a:xfrm>
          <a:prstGeom prst="roundRect">
            <a:avLst/>
          </a:prstGeom>
          <a:solidFill>
            <a:srgbClr val="FFF5E6"/>
          </a:solidFill>
          <a:ln w="254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FF7F27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8862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7F27"/>
                </a:solidFill>
              </a:defRPr>
            </a:pPr>
            <a:r>
              <a:t>Lab Protocols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88620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C3C3C"/>
                </a:solidFill>
              </a:defRPr>
            </a:pPr>
            <a:r>
              <a:t>Develop abnormal result escalation process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663440"/>
            <a:ext cx="8412480" cy="777240"/>
          </a:xfrm>
          <a:prstGeom prst="roundRect">
            <a:avLst/>
          </a:prstGeom>
          <a:solidFill>
            <a:srgbClr val="FFF5E6"/>
          </a:solidFill>
          <a:ln w="2540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48640" y="4800600"/>
            <a:ext cx="502920" cy="502920"/>
          </a:xfrm>
          <a:prstGeom prst="ellipse">
            <a:avLst/>
          </a:prstGeom>
          <a:solidFill>
            <a:srgbClr val="FF7F27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480060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7F27"/>
                </a:solidFill>
              </a:defRPr>
            </a:pPr>
            <a:r>
              <a:t>Data Automation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7548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C3C3C"/>
                </a:solidFill>
              </a:defRPr>
            </a:pPr>
            <a:r>
              <a:t>Enhance database refresh for timely reporting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3778"/>
          </a:solidFill>
          <a:ln>
            <a:solidFill>
              <a:srgbClr val="0B3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0A0"/>
          </a:solidFill>
          <a:ln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8412480" cy="5303520"/>
          </a:xfrm>
          <a:prstGeom prst="roundRect">
            <a:avLst/>
          </a:prstGeom>
          <a:solidFill>
            <a:srgbClr val="F5FA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</a:defRPr>
            </a:pPr>
            <a:r>
              <a:t>📈 COMPREHENSIVE BI PROJECT ACHIEVEMENT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Successfully developed end-to-end Business Intelligence solution integrating 10,000 patient records. Implemented full pipeline: Excel preparation → MySQL database → SQL analysis → Power BI/Tableau visualization. Solution enables data-driven decision-making for operational improvement and quality monitoring.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7F27"/>
                </a:solidFill>
              </a:defRPr>
            </a:pPr>
            <a:r>
              <a:t>✓ VERIFIED ANALYTICS 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7863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C3C3C"/>
                </a:solidFill>
              </a:defRPr>
            </a:pPr>
            <a:r>
              <a:t>✓ Patient Base: 10,000 individuals across comprehensive demographics</a:t>
            </a:r>
          </a:p>
          <a:p>
            <a:pPr>
              <a:spcAft>
                <a:spcPts val="300"/>
              </a:spcAft>
              <a:defRPr sz="1000">
                <a:solidFill>
                  <a:srgbClr val="3C3C3C"/>
                </a:solidFill>
              </a:defRPr>
            </a:pPr>
            <a:r>
              <a:t>✓ Visit Operations: 10,000 visits with 49.84% follow-up requirement</a:t>
            </a:r>
          </a:p>
          <a:p>
            <a:pPr>
              <a:spcAft>
                <a:spcPts val="300"/>
              </a:spcAft>
              <a:defRPr sz="1000">
                <a:solidFill>
                  <a:srgbClr val="3C3C3C"/>
                </a:solidFill>
              </a:defRPr>
            </a:pPr>
            <a:r>
              <a:t>✓ Treatment Activity: 3,325 treatments at ₹525 average cost</a:t>
            </a:r>
          </a:p>
          <a:p>
            <a:pPr>
              <a:spcAft>
                <a:spcPts val="300"/>
              </a:spcAft>
              <a:defRPr sz="1000">
                <a:solidFill>
                  <a:srgbClr val="3C3C3C"/>
                </a:solidFill>
              </a:defRPr>
            </a:pPr>
            <a:r>
              <a:t>✓ Laboratory Quality: 33.54% abnormal rate for disease detection</a:t>
            </a:r>
          </a:p>
          <a:p>
            <a:pPr>
              <a:spcAft>
                <a:spcPts val="300"/>
              </a:spcAft>
              <a:defRPr sz="1000">
                <a:solidFill>
                  <a:srgbClr val="3C3C3C"/>
                </a:solidFill>
              </a:defRPr>
            </a:pPr>
            <a:r>
              <a:t>✓ Resource Efficiency: 1,000 doctors with balanced 10 visits/provider workload</a:t>
            </a:r>
          </a:p>
          <a:p>
            <a:pPr>
              <a:spcAft>
                <a:spcPts val="300"/>
              </a:spcAft>
              <a:defRPr sz="1000">
                <a:solidFill>
                  <a:srgbClr val="3C3C3C"/>
                </a:solidFill>
              </a:defRPr>
            </a:pPr>
            <a:r>
              <a:t>✓ Technology Stack: Excel, MySQL, Power BI, Tableau delivering unified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7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00A0A0"/>
          </a:solidFill>
          <a:ln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457200" y="5486400"/>
            <a:ext cx="2286000" cy="2286000"/>
          </a:xfrm>
          <a:prstGeom prst="ellipse">
            <a:avLst/>
          </a:prstGeom>
          <a:solidFill>
            <a:srgbClr val="FF7F27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337560"/>
            <a:ext cx="2743200" cy="73152"/>
          </a:xfrm>
          <a:prstGeom prst="rect">
            <a:avLst/>
          </a:prstGeom>
          <a:solidFill>
            <a:srgbClr val="FF7F27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5836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608</Words>
  <Application>Microsoft Office PowerPoint</Application>
  <PresentationFormat>On-screen Show (4:3)</PresentationFormat>
  <Paragraphs>191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 H PRASHANTH</dc:creator>
  <cp:keywords/>
  <dc:description>generated using python-pptx</dc:description>
  <cp:lastModifiedBy>M H PRASHANTH</cp:lastModifiedBy>
  <cp:revision>4</cp:revision>
  <dcterms:created xsi:type="dcterms:W3CDTF">2013-01-27T09:14:16Z</dcterms:created>
  <dcterms:modified xsi:type="dcterms:W3CDTF">2026-09-11T03:36:08Z</dcterms:modified>
  <cp:category/>
</cp:coreProperties>
</file>